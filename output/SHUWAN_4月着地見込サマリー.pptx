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012" autoAdjust="0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87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182480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20840"/>
            <a:ext cx="1117231" cy="137160"/>
          </a:xfrm>
          <a:prstGeom prst="rect">
            <a:avLst/>
          </a:prstGeom>
          <a:solidFill>
            <a:srgbClr val="CD2ECB"/>
          </a:solidFill>
          <a:ln w="12700">
            <a:solidFill>
              <a:srgbClr val="CD2EC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8087" y="6720840"/>
            <a:ext cx="1117231" cy="137160"/>
          </a:xfrm>
          <a:prstGeom prst="rect">
            <a:avLst/>
          </a:prstGeom>
          <a:solidFill>
            <a:srgbClr val="E75EE2"/>
          </a:solidFill>
          <a:ln w="12700">
            <a:solidFill>
              <a:srgbClr val="E75EE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16173" y="6720840"/>
            <a:ext cx="1117231" cy="137160"/>
          </a:xfrm>
          <a:prstGeom prst="rect">
            <a:avLst/>
          </a:prstGeom>
          <a:solidFill>
            <a:srgbClr val="E44054"/>
          </a:solidFill>
          <a:ln w="12700">
            <a:solidFill>
              <a:srgbClr val="E440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324260" y="6720840"/>
            <a:ext cx="1117231" cy="137160"/>
          </a:xfrm>
          <a:prstGeom prst="rect">
            <a:avLst/>
          </a:prstGeom>
          <a:solidFill>
            <a:srgbClr val="F65445"/>
          </a:solidFill>
          <a:ln w="12700">
            <a:solidFill>
              <a:srgbClr val="F6544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32346" y="6720840"/>
            <a:ext cx="1117231" cy="137160"/>
          </a:xfrm>
          <a:prstGeom prst="rect">
            <a:avLst/>
          </a:prstGeom>
          <a:solidFill>
            <a:srgbClr val="F6A623"/>
          </a:solidFill>
          <a:ln w="12700">
            <a:solidFill>
              <a:srgbClr val="F6A62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540433" y="6720840"/>
            <a:ext cx="1117231" cy="137160"/>
          </a:xfrm>
          <a:prstGeom prst="rect">
            <a:avLst/>
          </a:prstGeom>
          <a:solidFill>
            <a:srgbClr val="F9CB28"/>
          </a:solidFill>
          <a:ln w="12700">
            <a:solidFill>
              <a:srgbClr val="F9CB2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648519" y="6720840"/>
            <a:ext cx="1117231" cy="137160"/>
          </a:xfrm>
          <a:prstGeom prst="rect">
            <a:avLst/>
          </a:prstGeom>
          <a:solidFill>
            <a:srgbClr val="F65445"/>
          </a:solidFill>
          <a:ln w="12700">
            <a:solidFill>
              <a:srgbClr val="F6544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56606" y="6720840"/>
            <a:ext cx="1117231" cy="137160"/>
          </a:xfrm>
          <a:prstGeom prst="rect">
            <a:avLst/>
          </a:prstGeom>
          <a:solidFill>
            <a:srgbClr val="E44054"/>
          </a:solidFill>
          <a:ln w="12700">
            <a:solidFill>
              <a:srgbClr val="E440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864692" y="6720840"/>
            <a:ext cx="1117231" cy="137160"/>
          </a:xfrm>
          <a:prstGeom prst="rect">
            <a:avLst/>
          </a:prstGeom>
          <a:solidFill>
            <a:srgbClr val="E75EE2"/>
          </a:solidFill>
          <a:ln w="12700">
            <a:solidFill>
              <a:srgbClr val="E75EE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972779" y="6720840"/>
            <a:ext cx="1117231" cy="137160"/>
          </a:xfrm>
          <a:prstGeom prst="rect">
            <a:avLst/>
          </a:prstGeom>
          <a:solidFill>
            <a:srgbClr val="CD2ECB"/>
          </a:solidFill>
          <a:ln w="12700">
            <a:solidFill>
              <a:srgbClr val="CD2EC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080865" y="6720840"/>
            <a:ext cx="1117231" cy="137160"/>
          </a:xfrm>
          <a:prstGeom prst="rect">
            <a:avLst/>
          </a:prstGeom>
          <a:solidFill>
            <a:srgbClr val="E75EE2"/>
          </a:solidFill>
          <a:ln w="12700">
            <a:solidFill>
              <a:srgbClr val="E75EE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182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5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SHUWAN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57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全体サマリー（4月着地見込 vs 3月確定）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57200" y="9601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週次レビュー 2026-04-10｜レンジ: 4/4〜4/10｜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1280160"/>
            <a:ext cx="1124712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463040"/>
          <a:ext cx="8961120" cy="347472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チャネル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3月確定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(碗)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4月目標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(碗)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4月月中実績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(4/1-10)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4月着地見込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(碗)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達成率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前月比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自社EC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34件 / ¥330K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74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53% 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Amazon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50件 / ¥221K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74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49% 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酒販店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39C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83% △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74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外販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(エルスタイル+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なびっぴドットコム)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74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29% 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74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料飲店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74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29% 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MAKUAKE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合計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304碗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74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49% 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57200" y="58521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いまでや経由（12碗）はレベシェア対象外のため全チャネルからカウント除外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6080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外販ベースシナリオ: エルスタイル36碗+ブラックス70碗+TANP8碗+GiftFUL6碗=120碗（トロス成約で+60〜120碗の上振れ余地）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457200" y="63093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対目標49%（未達）だが対前月111%（成長基調）。4月目標は3月の2.8倍に設定されている点に留意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20840"/>
            <a:ext cx="1117231" cy="137160"/>
          </a:xfrm>
          <a:prstGeom prst="rect">
            <a:avLst/>
          </a:prstGeom>
          <a:solidFill>
            <a:srgbClr val="CD2ECB"/>
          </a:solidFill>
          <a:ln w="12700">
            <a:solidFill>
              <a:srgbClr val="CD2EC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8087" y="6720840"/>
            <a:ext cx="1117231" cy="137160"/>
          </a:xfrm>
          <a:prstGeom prst="rect">
            <a:avLst/>
          </a:prstGeom>
          <a:solidFill>
            <a:srgbClr val="E75EE2"/>
          </a:solidFill>
          <a:ln w="12700">
            <a:solidFill>
              <a:srgbClr val="E75EE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16173" y="6720840"/>
            <a:ext cx="1117231" cy="137160"/>
          </a:xfrm>
          <a:prstGeom prst="rect">
            <a:avLst/>
          </a:prstGeom>
          <a:solidFill>
            <a:srgbClr val="E44054"/>
          </a:solidFill>
          <a:ln w="12700">
            <a:solidFill>
              <a:srgbClr val="E440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324260" y="6720840"/>
            <a:ext cx="1117231" cy="137160"/>
          </a:xfrm>
          <a:prstGeom prst="rect">
            <a:avLst/>
          </a:prstGeom>
          <a:solidFill>
            <a:srgbClr val="F65445"/>
          </a:solidFill>
          <a:ln w="12700">
            <a:solidFill>
              <a:srgbClr val="F6544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32346" y="6720840"/>
            <a:ext cx="1117231" cy="137160"/>
          </a:xfrm>
          <a:prstGeom prst="rect">
            <a:avLst/>
          </a:prstGeom>
          <a:solidFill>
            <a:srgbClr val="F6A623"/>
          </a:solidFill>
          <a:ln w="12700">
            <a:solidFill>
              <a:srgbClr val="F6A62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540433" y="6720840"/>
            <a:ext cx="1117231" cy="137160"/>
          </a:xfrm>
          <a:prstGeom prst="rect">
            <a:avLst/>
          </a:prstGeom>
          <a:solidFill>
            <a:srgbClr val="F9CB28"/>
          </a:solidFill>
          <a:ln w="12700">
            <a:solidFill>
              <a:srgbClr val="F9CB2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648519" y="6720840"/>
            <a:ext cx="1117231" cy="137160"/>
          </a:xfrm>
          <a:prstGeom prst="rect">
            <a:avLst/>
          </a:prstGeom>
          <a:solidFill>
            <a:srgbClr val="F65445"/>
          </a:solidFill>
          <a:ln w="12700">
            <a:solidFill>
              <a:srgbClr val="F6544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56606" y="6720840"/>
            <a:ext cx="1117231" cy="137160"/>
          </a:xfrm>
          <a:prstGeom prst="rect">
            <a:avLst/>
          </a:prstGeom>
          <a:solidFill>
            <a:srgbClr val="E44054"/>
          </a:solidFill>
          <a:ln w="12700">
            <a:solidFill>
              <a:srgbClr val="E440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864692" y="6720840"/>
            <a:ext cx="1117231" cy="137160"/>
          </a:xfrm>
          <a:prstGeom prst="rect">
            <a:avLst/>
          </a:prstGeom>
          <a:solidFill>
            <a:srgbClr val="E75EE2"/>
          </a:solidFill>
          <a:ln w="12700">
            <a:solidFill>
              <a:srgbClr val="E75EE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972779" y="6720840"/>
            <a:ext cx="1117231" cy="137160"/>
          </a:xfrm>
          <a:prstGeom prst="rect">
            <a:avLst/>
          </a:prstGeom>
          <a:solidFill>
            <a:srgbClr val="CD2ECB"/>
          </a:solidFill>
          <a:ln w="12700">
            <a:solidFill>
              <a:srgbClr val="CD2EC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080865" y="6720840"/>
            <a:ext cx="1117231" cy="137160"/>
          </a:xfrm>
          <a:prstGeom prst="rect">
            <a:avLst/>
          </a:prstGeom>
          <a:solidFill>
            <a:srgbClr val="E75EE2"/>
          </a:solidFill>
          <a:ln w="12700">
            <a:solidFill>
              <a:srgbClr val="E75EE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182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5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SHUWAN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57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レベシェア利益サマリー（4月着地見込 vs 3月確定）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57200" y="9601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レベシェア利益 = 碗数 × チャネル単価 × 60%（限界利益率）× 60%（シンクロ取り分）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1280160"/>
            <a:ext cx="1124712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463040"/>
          <a:ext cx="9235440" cy="333756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チャネル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3月実績利益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(円)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4月目標利益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(円)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4月着地見込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利益(円)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達成率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前月比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自社EC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¥253,875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¥560,000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¥395,640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39C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71% △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Amazon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¥169,969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¥410,000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¥341,640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39C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83% △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酒販店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¥140,425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¥247,000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¥205,920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39C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83% △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外販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¥106,804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¥267,000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¥78,192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74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29% 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74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料飲店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¥12,074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¥114,000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¥53,208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74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47% 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MAKUAKE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合計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¥683,147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¥1,598,000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¥1,074,600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39C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67% △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457200" y="5394960"/>
            <a:ext cx="3291840" cy="914400"/>
          </a:xfrm>
          <a:prstGeom prst="roundRect">
            <a:avLst>
              <a:gd name="adj" fmla="val 10000"/>
            </a:avLst>
          </a:prstGeom>
          <a:solidFill>
            <a:srgbClr val="F0FFF0"/>
          </a:solidFill>
          <a:ln w="19050">
            <a:solidFill>
              <a:srgbClr val="27AE6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8640" y="54406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前月比 </a:t>
            </a:r>
            <a:r>
              <a:rPr lang="en-US" sz="18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+¥391,453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683K → 1,075K（+57%成長）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023360" y="5394960"/>
            <a:ext cx="3291840" cy="914400"/>
          </a:xfrm>
          <a:prstGeom prst="roundRect">
            <a:avLst>
              <a:gd name="adj" fmla="val 10000"/>
            </a:avLst>
          </a:prstGeom>
          <a:solidFill>
            <a:srgbClr val="FFF8F0"/>
          </a:solidFill>
          <a:ln w="19050">
            <a:solidFill>
              <a:srgbClr val="F39C12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114800" y="54406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対目標 </a:t>
            </a:r>
            <a:r>
              <a:rPr lang="en-US" sz="18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67%（▲¥523K）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4月目標1,598Kに対し1,075K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589520" y="5394960"/>
            <a:ext cx="4114800" cy="914400"/>
          </a:xfrm>
          <a:prstGeom prst="roundRect">
            <a:avLst>
              <a:gd name="adj" fmla="val 10000"/>
            </a:avLst>
          </a:prstGeom>
          <a:solidFill>
            <a:srgbClr val="F8F8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680960" y="544068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単価: EC¥3,858 / Amazon¥4,580 / 酒販¥2,288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外販¥1,810 / 料飲¥2,956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上振れ: トロス成約+60〜120碗 / Meta広告稼働+50〜80碗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4BC1826-3BCE-74AB-D8C8-EA0EF21421C5}"/>
              </a:ext>
            </a:extLst>
          </p:cNvPr>
          <p:cNvSpPr/>
          <p:nvPr/>
        </p:nvSpPr>
        <p:spPr>
          <a:xfrm>
            <a:off x="903646" y="521742"/>
            <a:ext cx="1635162" cy="527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経路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D405A43-AE70-F4F2-27EC-F7C425F6654C}"/>
              </a:ext>
            </a:extLst>
          </p:cNvPr>
          <p:cNvSpPr/>
          <p:nvPr/>
        </p:nvSpPr>
        <p:spPr>
          <a:xfrm>
            <a:off x="5004095" y="1527590"/>
            <a:ext cx="2079812" cy="23021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商品ページ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（</a:t>
            </a:r>
            <a:r>
              <a:rPr kumimoji="1" lang="en-US" altLang="ja-JP" dirty="0"/>
              <a:t>SHUWAN</a:t>
            </a:r>
            <a:r>
              <a:rPr kumimoji="1" lang="ja-JP" altLang="en-US" dirty="0"/>
              <a:t>プロ）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D655AC5-8644-A132-D1E1-C8E203920C59}"/>
              </a:ext>
            </a:extLst>
          </p:cNvPr>
          <p:cNvSpPr/>
          <p:nvPr/>
        </p:nvSpPr>
        <p:spPr>
          <a:xfrm>
            <a:off x="903646" y="2207113"/>
            <a:ext cx="1635162" cy="7279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オーガニック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198D77C2-6C27-C62C-2E7E-684FC151266E}"/>
              </a:ext>
            </a:extLst>
          </p:cNvPr>
          <p:cNvSpPr/>
          <p:nvPr/>
        </p:nvSpPr>
        <p:spPr>
          <a:xfrm>
            <a:off x="903646" y="3416450"/>
            <a:ext cx="1635162" cy="527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PMAX</a:t>
            </a:r>
            <a:endParaRPr kumimoji="1" lang="ja-JP" altLang="en-US" dirty="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A2EF93E-8527-DD9F-2EF8-7040C581C348}"/>
              </a:ext>
            </a:extLst>
          </p:cNvPr>
          <p:cNvSpPr/>
          <p:nvPr/>
        </p:nvSpPr>
        <p:spPr>
          <a:xfrm>
            <a:off x="903646" y="4410636"/>
            <a:ext cx="1635162" cy="527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Meta</a:t>
            </a:r>
            <a:endParaRPr kumimoji="1" lang="ja-JP" altLang="en-US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0FE0AB7-498B-63C5-F6D8-C60BED0301A1}"/>
              </a:ext>
            </a:extLst>
          </p:cNvPr>
          <p:cNvSpPr/>
          <p:nvPr/>
        </p:nvSpPr>
        <p:spPr>
          <a:xfrm>
            <a:off x="2739614" y="2199940"/>
            <a:ext cx="1635162" cy="527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TOP</a:t>
            </a:r>
            <a:r>
              <a:rPr kumimoji="1" lang="ja-JP" altLang="en-US" dirty="0"/>
              <a:t>ページ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〇〇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F576449-5A4E-6A19-68DF-B60DBA129F21}"/>
              </a:ext>
            </a:extLst>
          </p:cNvPr>
          <p:cNvSpPr/>
          <p:nvPr/>
        </p:nvSpPr>
        <p:spPr>
          <a:xfrm>
            <a:off x="2744993" y="521746"/>
            <a:ext cx="1635162" cy="527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流入数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44AE8D24-7EC4-6CB2-75BE-C8169FD0C996}"/>
              </a:ext>
            </a:extLst>
          </p:cNvPr>
          <p:cNvSpPr/>
          <p:nvPr/>
        </p:nvSpPr>
        <p:spPr>
          <a:xfrm>
            <a:off x="5004095" y="521746"/>
            <a:ext cx="2042160" cy="527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流入数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4E3A6C1B-34C3-44D1-734E-BC6784F568EF}"/>
              </a:ext>
            </a:extLst>
          </p:cNvPr>
          <p:cNvSpPr/>
          <p:nvPr/>
        </p:nvSpPr>
        <p:spPr>
          <a:xfrm>
            <a:off x="5004095" y="4383743"/>
            <a:ext cx="2042160" cy="66518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商品ページ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（グラス）</a:t>
            </a: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89B125CB-0529-D158-D0A0-555A017BFB8B}"/>
              </a:ext>
            </a:extLst>
          </p:cNvPr>
          <p:cNvCxnSpPr>
            <a:cxnSpLocks/>
            <a:stCxn id="6" idx="3"/>
            <a:endCxn id="4" idx="1"/>
          </p:cNvCxnSpPr>
          <p:nvPr/>
        </p:nvCxnSpPr>
        <p:spPr>
          <a:xfrm flipV="1">
            <a:off x="2538808" y="2678659"/>
            <a:ext cx="2465287" cy="10013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BC670047-60ED-6A85-3E1F-7B381C926B63}"/>
              </a:ext>
            </a:extLst>
          </p:cNvPr>
          <p:cNvCxnSpPr>
            <a:cxnSpLocks/>
            <a:stCxn id="7" idx="3"/>
            <a:endCxn id="11" idx="1"/>
          </p:cNvCxnSpPr>
          <p:nvPr/>
        </p:nvCxnSpPr>
        <p:spPr>
          <a:xfrm>
            <a:off x="2538808" y="4674199"/>
            <a:ext cx="2465287" cy="421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DDBD4E15-E0C6-77AE-F0A6-DCD47632DA76}"/>
              </a:ext>
            </a:extLst>
          </p:cNvPr>
          <p:cNvCxnSpPr>
            <a:cxnSpLocks/>
            <a:stCxn id="8" idx="3"/>
            <a:endCxn id="11" idx="1"/>
          </p:cNvCxnSpPr>
          <p:nvPr/>
        </p:nvCxnSpPr>
        <p:spPr>
          <a:xfrm>
            <a:off x="4374776" y="2463503"/>
            <a:ext cx="629319" cy="22528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E517E783-9C67-90AF-4F10-E5689A8189FA}"/>
              </a:ext>
            </a:extLst>
          </p:cNvPr>
          <p:cNvCxnSpPr>
            <a:cxnSpLocks/>
            <a:stCxn id="8" idx="3"/>
            <a:endCxn id="4" idx="1"/>
          </p:cNvCxnSpPr>
          <p:nvPr/>
        </p:nvCxnSpPr>
        <p:spPr>
          <a:xfrm>
            <a:off x="4374776" y="2463503"/>
            <a:ext cx="629319" cy="2151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17D5D459-9911-31BC-C336-8EE36019E3FE}"/>
              </a:ext>
            </a:extLst>
          </p:cNvPr>
          <p:cNvCxnSpPr>
            <a:stCxn id="4" idx="2"/>
            <a:endCxn id="11" idx="0"/>
          </p:cNvCxnSpPr>
          <p:nvPr/>
        </p:nvCxnSpPr>
        <p:spPr>
          <a:xfrm flipH="1">
            <a:off x="6025175" y="3829727"/>
            <a:ext cx="18826" cy="55401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0C9E01AB-1783-6E02-BD0E-008A7A31C431}"/>
              </a:ext>
            </a:extLst>
          </p:cNvPr>
          <p:cNvSpPr/>
          <p:nvPr/>
        </p:nvSpPr>
        <p:spPr>
          <a:xfrm>
            <a:off x="7370779" y="521745"/>
            <a:ext cx="2042160" cy="527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カート遷移数</a:t>
            </a: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B5E15CA9-76E7-7FB8-B563-449BD1080742}"/>
              </a:ext>
            </a:extLst>
          </p:cNvPr>
          <p:cNvSpPr/>
          <p:nvPr/>
        </p:nvSpPr>
        <p:spPr>
          <a:xfrm>
            <a:off x="7404845" y="1527590"/>
            <a:ext cx="2079812" cy="23021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商品ページ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（</a:t>
            </a:r>
            <a:r>
              <a:rPr kumimoji="1" lang="en-US" altLang="ja-JP" dirty="0"/>
              <a:t>SHUWAN</a:t>
            </a:r>
            <a:r>
              <a:rPr kumimoji="1" lang="ja-JP" altLang="en-US" dirty="0"/>
              <a:t>プロ）</a:t>
            </a: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AD33532C-71FC-2A03-B901-F5DD93EC4D3F}"/>
              </a:ext>
            </a:extLst>
          </p:cNvPr>
          <p:cNvSpPr/>
          <p:nvPr/>
        </p:nvSpPr>
        <p:spPr>
          <a:xfrm>
            <a:off x="7428151" y="4410637"/>
            <a:ext cx="2079812" cy="6382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商品ページ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（グラス）</a:t>
            </a: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A792F7A4-E04F-3E8B-1BA0-01C9D68BB0CD}"/>
              </a:ext>
            </a:extLst>
          </p:cNvPr>
          <p:cNvSpPr/>
          <p:nvPr/>
        </p:nvSpPr>
        <p:spPr>
          <a:xfrm>
            <a:off x="9690845" y="521744"/>
            <a:ext cx="1147480" cy="527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購入人数</a:t>
            </a: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E67394B8-A04F-1010-4A8F-1C31140E487C}"/>
              </a:ext>
            </a:extLst>
          </p:cNvPr>
          <p:cNvSpPr/>
          <p:nvPr/>
        </p:nvSpPr>
        <p:spPr>
          <a:xfrm>
            <a:off x="10910049" y="521743"/>
            <a:ext cx="1147480" cy="527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購入碗数</a:t>
            </a:r>
          </a:p>
        </p:txBody>
      </p:sp>
      <p:cxnSp>
        <p:nvCxnSpPr>
          <p:cNvPr id="36" name="直線矢印コネクタ 35">
            <a:extLst>
              <a:ext uri="{FF2B5EF4-FFF2-40B4-BE49-F238E27FC236}">
                <a16:creationId xmlns:a16="http://schemas.microsoft.com/office/drawing/2014/main" id="{A2AAB4F2-B317-4986-EBB2-7B046049ABBA}"/>
              </a:ext>
            </a:extLst>
          </p:cNvPr>
          <p:cNvCxnSpPr/>
          <p:nvPr/>
        </p:nvCxnSpPr>
        <p:spPr>
          <a:xfrm>
            <a:off x="2355925" y="2770094"/>
            <a:ext cx="2648170" cy="1649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矢印コネクタ 37">
            <a:extLst>
              <a:ext uri="{FF2B5EF4-FFF2-40B4-BE49-F238E27FC236}">
                <a16:creationId xmlns:a16="http://schemas.microsoft.com/office/drawing/2014/main" id="{55C72B36-AC52-3991-0655-B420C2E59004}"/>
              </a:ext>
            </a:extLst>
          </p:cNvPr>
          <p:cNvCxnSpPr>
            <a:cxnSpLocks/>
            <a:stCxn id="5" idx="3"/>
          </p:cNvCxnSpPr>
          <p:nvPr/>
        </p:nvCxnSpPr>
        <p:spPr>
          <a:xfrm flipV="1">
            <a:off x="2538808" y="2463503"/>
            <a:ext cx="227700" cy="1075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07426932-A8EB-D580-94AD-CD589C12A288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2409713" y="2786236"/>
            <a:ext cx="2594382" cy="19300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6DE74B8F-4835-3E96-F001-ABE37234FC0B}"/>
              </a:ext>
            </a:extLst>
          </p:cNvPr>
          <p:cNvSpPr/>
          <p:nvPr/>
        </p:nvSpPr>
        <p:spPr>
          <a:xfrm>
            <a:off x="7494490" y="5697968"/>
            <a:ext cx="2079812" cy="6382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商品ページ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（その他）</a:t>
            </a: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09F663B9-9F66-AF08-3987-782D5DEF7C0C}"/>
              </a:ext>
            </a:extLst>
          </p:cNvPr>
          <p:cNvSpPr/>
          <p:nvPr/>
        </p:nvSpPr>
        <p:spPr>
          <a:xfrm>
            <a:off x="22408" y="518153"/>
            <a:ext cx="752143" cy="527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/>
              <a:t>広告費</a:t>
            </a:r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57032894-B95A-892A-BA4C-632F1174705D}"/>
              </a:ext>
            </a:extLst>
          </p:cNvPr>
          <p:cNvSpPr/>
          <p:nvPr/>
        </p:nvSpPr>
        <p:spPr>
          <a:xfrm>
            <a:off x="22408" y="3429000"/>
            <a:ext cx="752143" cy="527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/>
              <a:t>広告費</a:t>
            </a: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18443FCC-F05E-0649-32A5-38D9B5AB0817}"/>
              </a:ext>
            </a:extLst>
          </p:cNvPr>
          <p:cNvSpPr/>
          <p:nvPr/>
        </p:nvSpPr>
        <p:spPr>
          <a:xfrm>
            <a:off x="48855" y="4410635"/>
            <a:ext cx="752143" cy="527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/>
              <a:t>広告費</a:t>
            </a:r>
          </a:p>
        </p:txBody>
      </p:sp>
    </p:spTree>
    <p:extLst>
      <p:ext uri="{BB962C8B-B14F-4D97-AF65-F5344CB8AC3E}">
        <p14:creationId xmlns:p14="http://schemas.microsoft.com/office/powerpoint/2010/main" val="22114193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2">
            <a:extLst>
              <a:ext uri="{FF2B5EF4-FFF2-40B4-BE49-F238E27FC236}">
                <a16:creationId xmlns:a16="http://schemas.microsoft.com/office/drawing/2014/main" id="{4FBB6344-D6A9-1C4E-FD47-882B293CC316}"/>
              </a:ext>
            </a:extLst>
          </p:cNvPr>
          <p:cNvSpPr/>
          <p:nvPr/>
        </p:nvSpPr>
        <p:spPr>
          <a:xfrm>
            <a:off x="796413" y="1479755"/>
            <a:ext cx="10058400" cy="12880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26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r>
              <a:rPr lang="en-US" altLang="ja-JP" sz="26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</a:t>
            </a:r>
            <a:r>
              <a:rPr lang="ja-JP" altLang="en-US" sz="26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の広告開始で、土日で</a:t>
            </a:r>
            <a:r>
              <a:rPr lang="en-US" altLang="ja-JP" sz="26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r>
              <a:rPr lang="ja-JP" altLang="en-US" sz="26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件注文あり。（通常比）</a:t>
            </a:r>
            <a:endParaRPr lang="en-US" altLang="ja-JP" sz="2600" b="1" dirty="0">
              <a:solidFill>
                <a:srgbClr val="222222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ja-JP" altLang="en-US" sz="2600" dirty="0"/>
              <a:t>・問い合わせ</a:t>
            </a:r>
            <a:r>
              <a:rPr lang="en-US" altLang="ja-JP" sz="2600" dirty="0"/>
              <a:t>1</a:t>
            </a:r>
            <a:r>
              <a:rPr lang="ja-JP" altLang="en-US" sz="2600" dirty="0"/>
              <a:t>件（経由をヒアリング）　</a:t>
            </a:r>
            <a:endParaRPr lang="en-US" altLang="ja-JP" sz="2600" dirty="0"/>
          </a:p>
          <a:p>
            <a:pPr marL="0" indent="0">
              <a:buNone/>
            </a:pPr>
            <a:r>
              <a:rPr lang="ja-JP" altLang="en-US" sz="2600" dirty="0"/>
              <a:t>・</a:t>
            </a:r>
            <a:r>
              <a:rPr lang="en-US" altLang="ja-JP" sz="2600" dirty="0"/>
              <a:t>Amazon</a:t>
            </a:r>
            <a:r>
              <a:rPr lang="ja-JP" altLang="en-US" sz="2600" dirty="0"/>
              <a:t>で大口注文　</a:t>
            </a:r>
            <a:r>
              <a:rPr lang="en-US" altLang="ja-JP" sz="2600" dirty="0"/>
              <a:t>13</a:t>
            </a:r>
            <a:r>
              <a:rPr lang="ja-JP" altLang="en-US" sz="2600" dirty="0"/>
              <a:t>件（経由をヒアリング）</a:t>
            </a:r>
            <a:endParaRPr lang="en-US" altLang="ja-JP" sz="2600" dirty="0"/>
          </a:p>
        </p:txBody>
      </p:sp>
    </p:spTree>
    <p:extLst>
      <p:ext uri="{BB962C8B-B14F-4D97-AF65-F5344CB8AC3E}">
        <p14:creationId xmlns:p14="http://schemas.microsoft.com/office/powerpoint/2010/main" val="25070794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2316</TotalTime>
  <Words>437</Words>
  <Application>Microsoft Office PowerPoint</Application>
  <PresentationFormat>ワイド画面</PresentationFormat>
  <Paragraphs>159</Paragraphs>
  <Slides>4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SHUWAN 4月着地見込サマリー（週次レビュー 2026-04-10）</dc:title>
  <dc:subject>PptxGenJS Presentation</dc:subject>
  <dc:creator>PptxGenJS</dc:creator>
  <cp:lastModifiedBy>浩晃 原</cp:lastModifiedBy>
  <cp:revision>6</cp:revision>
  <dcterms:created xsi:type="dcterms:W3CDTF">2026-04-10T06:16:46Z</dcterms:created>
  <dcterms:modified xsi:type="dcterms:W3CDTF">2026-04-13T06:55:54Z</dcterms:modified>
</cp:coreProperties>
</file>