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84" y="1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3839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0840"/>
            <a:ext cx="1117231" cy="137160"/>
          </a:xfrm>
          <a:prstGeom prst="rect">
            <a:avLst/>
          </a:prstGeom>
          <a:solidFill>
            <a:srgbClr val="CD2ECB"/>
          </a:solidFill>
          <a:ln w="12700">
            <a:solidFill>
              <a:srgbClr val="CD2E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8087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16173" y="6720840"/>
            <a:ext cx="1117231" cy="13716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24260" y="6720840"/>
            <a:ext cx="1117231" cy="13716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32346" y="6720840"/>
            <a:ext cx="1117231" cy="13716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40433" y="6720840"/>
            <a:ext cx="1117231" cy="137160"/>
          </a:xfrm>
          <a:prstGeom prst="rect">
            <a:avLst/>
          </a:prstGeom>
          <a:solidFill>
            <a:srgbClr val="F9CB28"/>
          </a:solidFill>
          <a:ln w="12700">
            <a:solidFill>
              <a:srgbClr val="F9CB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48519" y="6720840"/>
            <a:ext cx="1117231" cy="13716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56606" y="6720840"/>
            <a:ext cx="1117231" cy="13716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4692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72779" y="6720840"/>
            <a:ext cx="1117231" cy="137160"/>
          </a:xfrm>
          <a:prstGeom prst="rect">
            <a:avLst/>
          </a:prstGeom>
          <a:solidFill>
            <a:srgbClr val="CD2ECB"/>
          </a:solidFill>
          <a:ln w="12700">
            <a:solidFill>
              <a:srgbClr val="CD2E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80865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SHUWAN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17373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YouTube戦略 社内答申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731520" y="2834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動画コンテンツ戦略：1本制作 × 多チャネル展開でサイト流入3,000へ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1520" y="3429000"/>
            <a:ext cx="4572000" cy="0"/>
          </a:xfrm>
          <a:prstGeom prst="line">
            <a:avLst/>
          </a:prstGeom>
          <a:noFill/>
          <a:ln w="25400">
            <a:solidFill>
              <a:srgbClr val="E440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49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03120" y="3749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2026年4月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160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作成者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0312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株式会社シュワン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572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0312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YouTube活用による流入増・CVR改善の全社方針共有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0840"/>
            <a:ext cx="1117231" cy="137160"/>
          </a:xfrm>
          <a:prstGeom prst="rect">
            <a:avLst/>
          </a:prstGeom>
          <a:solidFill>
            <a:srgbClr val="CD2ECB"/>
          </a:solidFill>
          <a:ln w="12700">
            <a:solidFill>
              <a:srgbClr val="CD2E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8087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16173" y="6720840"/>
            <a:ext cx="1117231" cy="13716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24260" y="6720840"/>
            <a:ext cx="1117231" cy="13716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32346" y="6720840"/>
            <a:ext cx="1117231" cy="13716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40433" y="6720840"/>
            <a:ext cx="1117231" cy="137160"/>
          </a:xfrm>
          <a:prstGeom prst="rect">
            <a:avLst/>
          </a:prstGeom>
          <a:solidFill>
            <a:srgbClr val="F9CB28"/>
          </a:solidFill>
          <a:ln w="12700">
            <a:solidFill>
              <a:srgbClr val="F9CB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48519" y="6720840"/>
            <a:ext cx="1117231" cy="13716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56606" y="6720840"/>
            <a:ext cx="1117231" cy="13716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4692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72779" y="6720840"/>
            <a:ext cx="1117231" cy="137160"/>
          </a:xfrm>
          <a:prstGeom prst="rect">
            <a:avLst/>
          </a:prstGeom>
          <a:solidFill>
            <a:srgbClr val="CD2ECB"/>
          </a:solidFill>
          <a:ln w="12700">
            <a:solidFill>
              <a:srgbClr val="CD2E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80865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SHUWAN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事業全体像とKPI構造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" y="1005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認知チャネル5つのうち B・C・Dがコア — チャネル全体に波及する活動に集中する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知るきっかけ（5チャネル）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1783080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178308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酒販店で知る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313432"/>
            <a:ext cx="2743200" cy="438912"/>
          </a:xfrm>
          <a:prstGeom prst="rect">
            <a:avLst/>
          </a:prstGeom>
          <a:solidFill>
            <a:srgbClr val="FFF8E1"/>
          </a:solidFill>
          <a:ln w="19050">
            <a:solidFill>
              <a:srgbClr val="F6A62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313432"/>
            <a:ext cx="54864" cy="438912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31343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YouTube・SNSで知る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843784"/>
            <a:ext cx="2743200" cy="438912"/>
          </a:xfrm>
          <a:prstGeom prst="rect">
            <a:avLst/>
          </a:prstGeom>
          <a:solidFill>
            <a:srgbClr val="FFF8E1"/>
          </a:solidFill>
          <a:ln w="19050">
            <a:solidFill>
              <a:srgbClr val="F6A62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843784"/>
            <a:ext cx="54864" cy="438912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2843784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検索（酒器）で知る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374136"/>
            <a:ext cx="2743200" cy="438912"/>
          </a:xfrm>
          <a:prstGeom prst="rect">
            <a:avLst/>
          </a:prstGeom>
          <a:solidFill>
            <a:srgbClr val="FFF8E1"/>
          </a:solidFill>
          <a:ln w="19050">
            <a:solidFill>
              <a:srgbClr val="F6A62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374136"/>
            <a:ext cx="54864" cy="438912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374136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クチコミで知る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" y="3872590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4350" y="3840481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料飲店で知る・体験する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06908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納得し</a:t>
            </a:r>
            <a:r>
              <a:rPr lang="en-US" sz="1000" b="1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購買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069080" y="1783080"/>
            <a:ext cx="2011680" cy="43891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60520" y="178308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納得し、</a:t>
            </a:r>
            <a:r>
              <a:rPr lang="en-US" sz="11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酒販店で購入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069080" y="2331720"/>
            <a:ext cx="2011680" cy="749808"/>
          </a:xfrm>
          <a:prstGeom prst="rect">
            <a:avLst/>
          </a:prstGeom>
          <a:solidFill>
            <a:srgbClr val="EEF4FB"/>
          </a:solidFill>
          <a:ln w="19050">
            <a:solidFill>
              <a:srgbClr val="E75EE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60520" y="2359152"/>
            <a:ext cx="1828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5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自社ECで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75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納得→購入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069080" y="3200400"/>
            <a:ext cx="2011680" cy="43891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60520" y="320040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料飲店で体験→購入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720777" y="8548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重点3領域 × KPI10個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206240"/>
            <a:ext cx="18288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6A62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4206240"/>
            <a:ext cx="1828800" cy="64008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4297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サイト流入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8640" y="45354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③流入数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377440" y="4206240"/>
            <a:ext cx="214884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75EE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377440" y="4206240"/>
            <a:ext cx="2148840" cy="64008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68880" y="42976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5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CVR改善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468880" y="453542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④遷移 ⑤CVR ⑥碗数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17720" y="4206240"/>
            <a:ext cx="18288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4405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17720" y="4206240"/>
            <a:ext cx="1828800" cy="64008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09160" y="4297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体験満足度UP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709160" y="45354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⑩成功体験数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57200" y="4983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酒販店 ①取扱企業数 ②発注数 ／ 料飲店 ⑦直アプローチ ⑧注文 ⑨導入点数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400800" y="1463040"/>
            <a:ext cx="5303520" cy="384048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400800" y="1463040"/>
            <a:ext cx="5303520" cy="64008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83680" y="15727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自社ECファネル：実績 → 計画（5月以降）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7772400" y="1965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実績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686800" y="1965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転換率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9555480" y="1965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計画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561320" y="19659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目標転換率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537960" y="2286000"/>
            <a:ext cx="5029200" cy="420624"/>
          </a:xfrm>
          <a:prstGeom prst="rect">
            <a:avLst/>
          </a:prstGeom>
          <a:solidFill>
            <a:srgbClr val="FFF3CD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83680" y="228600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販売ページ流入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772400" y="2286000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1,800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8686800" y="228600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9281160" y="22860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65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9555480" y="228600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10561320" y="228600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537960" y="2761488"/>
            <a:ext cx="5029200" cy="420624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583680" y="276148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購入ボタンclick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7772400" y="276148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8686800" y="276148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9281160" y="2761488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65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9555480" y="27614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850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10561320" y="276148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537960" y="3236976"/>
            <a:ext cx="50292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583680" y="323697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カート追加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7772400" y="32369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8686800" y="3236976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9281160" y="323697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65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9555480" y="323697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10561320" y="323697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537960" y="3712464"/>
            <a:ext cx="5029200" cy="420624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83680" y="371246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購入人数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7772400" y="3712464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8686800" y="3712464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9281160" y="3712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65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87" name="Text 85"/>
          <p:cNvSpPr/>
          <p:nvPr/>
        </p:nvSpPr>
        <p:spPr>
          <a:xfrm>
            <a:off x="9555480" y="371246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10561320" y="371246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537960" y="4187952"/>
            <a:ext cx="5029200" cy="420624"/>
          </a:xfrm>
          <a:prstGeom prst="rect">
            <a:avLst/>
          </a:prstGeom>
          <a:solidFill>
            <a:srgbClr val="FFF3CD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583680" y="418795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購入碗数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7772400" y="4187952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8686800" y="418795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9281160" y="418795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65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94" name="Text 92"/>
          <p:cNvSpPr/>
          <p:nvPr/>
        </p:nvSpPr>
        <p:spPr>
          <a:xfrm>
            <a:off x="9555480" y="418795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10561320" y="418795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6537960" y="4663440"/>
            <a:ext cx="5029200" cy="384048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583680" y="46634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7772400" y="46634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3.5%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9281160" y="466344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00" name="Text 98"/>
          <p:cNvSpPr/>
          <p:nvPr/>
        </p:nvSpPr>
        <p:spPr>
          <a:xfrm>
            <a:off x="9555480" y="46634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400" dirty="0"/>
          </a:p>
        </p:txBody>
      </p:sp>
      <p:sp>
        <p:nvSpPr>
          <p:cNvPr id="101" name="Shape 99"/>
          <p:cNvSpPr/>
          <p:nvPr/>
        </p:nvSpPr>
        <p:spPr>
          <a:xfrm>
            <a:off x="457200" y="5394960"/>
            <a:ext cx="11247120" cy="1051560"/>
          </a:xfrm>
          <a:prstGeom prst="rect">
            <a:avLst/>
          </a:prstGeom>
          <a:solidFill>
            <a:srgbClr val="FFF3CD"/>
          </a:solidFill>
          <a:ln w="19050">
            <a:solidFill>
              <a:srgbClr val="F9CB2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57200" y="5394960"/>
            <a:ext cx="64008" cy="105156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40080" y="54681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65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640080" y="56875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B（YouTube・SNS）C（検索）D（クチコミ）はチャネル全体に波及するコアな活動。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この3チャネルの起点となる「動画コンテンツ」が、流入3,000＋CVR5%の達成エンジンになる。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6400800" y="50749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65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【流入増 ← 検索増 ← クチコミ ← 成功体験】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0840"/>
            <a:ext cx="1117231" cy="137160"/>
          </a:xfrm>
          <a:prstGeom prst="rect">
            <a:avLst/>
          </a:prstGeom>
          <a:solidFill>
            <a:srgbClr val="CD2ECB"/>
          </a:solidFill>
          <a:ln w="12700">
            <a:solidFill>
              <a:srgbClr val="CD2E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8087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16173" y="6720840"/>
            <a:ext cx="1117231" cy="13716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24260" y="6720840"/>
            <a:ext cx="1117231" cy="13716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32346" y="6720840"/>
            <a:ext cx="1117231" cy="13716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40433" y="6720840"/>
            <a:ext cx="1117231" cy="137160"/>
          </a:xfrm>
          <a:prstGeom prst="rect">
            <a:avLst/>
          </a:prstGeom>
          <a:solidFill>
            <a:srgbClr val="F9CB28"/>
          </a:solidFill>
          <a:ln w="12700">
            <a:solidFill>
              <a:srgbClr val="F9CB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48519" y="6720840"/>
            <a:ext cx="1117231" cy="13716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56606" y="6720840"/>
            <a:ext cx="1117231" cy="13716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4692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72779" y="6720840"/>
            <a:ext cx="1117231" cy="137160"/>
          </a:xfrm>
          <a:prstGeom prst="rect">
            <a:avLst/>
          </a:prstGeom>
          <a:solidFill>
            <a:srgbClr val="CD2ECB"/>
          </a:solidFill>
          <a:ln w="12700">
            <a:solidFill>
              <a:srgbClr val="CD2E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80865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SHUWAN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なぜ今、動画なのか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" y="1005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1本の動画コンテンツを多チャネルに展開し、認知・信頼・購買を同時に高める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508760"/>
            <a:ext cx="5120640" cy="4937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1508760"/>
            <a:ext cx="5120640" cy="64008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166420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解決すべき2つの壁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2148840"/>
            <a:ext cx="4663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22128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「知らない」壁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248716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月間購買ページ流入1,800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（目標3,000・達成率60%）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337560"/>
            <a:ext cx="4663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4015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「信じられない」壁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367588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 3.5%（目標5%）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根拠が伝わらず購入に至らない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526280"/>
            <a:ext cx="4663440" cy="1051560"/>
          </a:xfrm>
          <a:prstGeom prst="rect">
            <a:avLst/>
          </a:prstGeom>
          <a:solidFill>
            <a:srgbClr val="FFF3CD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5902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5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動画が解決する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48646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テキスト・静止画では伝わらない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「体験・根拠」を動画なら一瞬で届けられる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1508760"/>
            <a:ext cx="5669280" cy="4937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1508760"/>
            <a:ext cx="5669280" cy="64008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166420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5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動画1本 → 3領域で活用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498080" y="2084832"/>
            <a:ext cx="2651760" cy="475488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498080" y="212140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動画コンテンツ（①②）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80760" y="2697480"/>
            <a:ext cx="54864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4405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80760" y="2697480"/>
            <a:ext cx="64008" cy="118872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45352" y="2770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広告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81928" y="3191256"/>
            <a:ext cx="73152" cy="73152"/>
          </a:xfrm>
          <a:prstGeom prst="ellipse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28232" y="311810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Meta動画広告（リール/フィード）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81928" y="3483864"/>
            <a:ext cx="73152" cy="73152"/>
          </a:xfrm>
          <a:prstGeom prst="ellipse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28232" y="34107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PMAX動画アセット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81928" y="3776472"/>
            <a:ext cx="73152" cy="73152"/>
          </a:xfrm>
          <a:prstGeom prst="ellipse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28232" y="37033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YouTube広告（インストリーム）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080760" y="4041648"/>
            <a:ext cx="54864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F6A62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80760" y="4041648"/>
            <a:ext cx="64008" cy="118872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45352" y="4114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SNS・PRコラボ（コスト低）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281928" y="4535424"/>
            <a:ext cx="73152" cy="73152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28232" y="44622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Reels（有機拡散）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281928" y="4828032"/>
            <a:ext cx="73152" cy="73152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28232" y="47548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YouTubeコラボ動画（酒泉洞堀一等）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281928" y="5120640"/>
            <a:ext cx="73152" cy="73152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28232" y="50474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酒蔵・料飲店への投稿依頼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080760" y="5394960"/>
            <a:ext cx="54864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75EE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080760" y="5394960"/>
            <a:ext cx="64008" cy="114300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45352" y="54681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5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自社EC CVR向上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281928" y="5888736"/>
            <a:ext cx="73152" cy="73152"/>
          </a:xfrm>
          <a:prstGeom prst="ellipse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28232" y="58155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EC商品ページへの動画埋め込み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281928" y="6181344"/>
            <a:ext cx="73152" cy="73152"/>
          </a:xfrm>
          <a:prstGeom prst="ellipse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28232" y="61081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即効CVRリフト（コストゼロ）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0840"/>
            <a:ext cx="1117231" cy="137160"/>
          </a:xfrm>
          <a:prstGeom prst="rect">
            <a:avLst/>
          </a:prstGeom>
          <a:solidFill>
            <a:srgbClr val="CD2ECB"/>
          </a:solidFill>
          <a:ln w="12700">
            <a:solidFill>
              <a:srgbClr val="CD2E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8087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16173" y="6720840"/>
            <a:ext cx="1117231" cy="13716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24260" y="6720840"/>
            <a:ext cx="1117231" cy="13716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32346" y="6720840"/>
            <a:ext cx="1117231" cy="13716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40433" y="6720840"/>
            <a:ext cx="1117231" cy="137160"/>
          </a:xfrm>
          <a:prstGeom prst="rect">
            <a:avLst/>
          </a:prstGeom>
          <a:solidFill>
            <a:srgbClr val="F9CB28"/>
          </a:solidFill>
          <a:ln w="12700">
            <a:solidFill>
              <a:srgbClr val="F9CB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48519" y="6720840"/>
            <a:ext cx="1117231" cy="13716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56606" y="6720840"/>
            <a:ext cx="1117231" cy="13716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4692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72779" y="6720840"/>
            <a:ext cx="1117231" cy="137160"/>
          </a:xfrm>
          <a:prstGeom prst="rect">
            <a:avLst/>
          </a:prstGeom>
          <a:solidFill>
            <a:srgbClr val="CD2ECB"/>
          </a:solidFill>
          <a:ln w="12700">
            <a:solidFill>
              <a:srgbClr val="CD2E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80865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SHUWAN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YouTube戦略の2層構造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" y="1005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「発見」で流入を増やし「納得」でCVRを高める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508760"/>
            <a:ext cx="5120640" cy="2286000"/>
          </a:xfrm>
          <a:prstGeom prst="rect">
            <a:avLst/>
          </a:prstGeom>
          <a:solidFill>
            <a:srgbClr val="FFF3CD"/>
          </a:solidFill>
          <a:ln w="25400">
            <a:solidFill>
              <a:srgbClr val="F9CB2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5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発見層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コンテンツ③④（コラボ動画）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22402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おつまみ×日本酒チャンネル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銘柄飲み比べ×SHUWAN（酒泉洞堀一）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2926080"/>
            <a:ext cx="46634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017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認知獲得・流入増: 1,800 → 3,000（+67%）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377440" y="3886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65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57200" y="4343400"/>
            <a:ext cx="5120640" cy="2103120"/>
          </a:xfrm>
          <a:prstGeom prst="rect">
            <a:avLst/>
          </a:prstGeom>
          <a:solidFill>
            <a:srgbClr val="EEF4FB"/>
          </a:solidFill>
          <a:ln w="25400">
            <a:solidFill>
              <a:srgbClr val="E75EE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5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納得層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" y="4754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コンテンツ①②（EC掲載・動画広告）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50749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プロの愛用者インタビュー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ワイングラスとSHUWANの違い（公開済✅）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5669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5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CVR向上: 3.5% → 5%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92240" y="1508760"/>
            <a:ext cx="5212080" cy="4937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67512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目標達成の連鎖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675120" y="2148840"/>
            <a:ext cx="64008" cy="5943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12280" y="2148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5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12280" y="24231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②動画をEC商品ページに埋め込み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CVR改善（即効・コストゼロ）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75120" y="3154680"/>
            <a:ext cx="64008" cy="59436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12280" y="3154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12280" y="34290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コラボ動画でYouTube/SNS拡散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月間流入1,800→3,000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675120" y="4160520"/>
            <a:ext cx="64008" cy="594360"/>
          </a:xfrm>
          <a:prstGeom prst="rect">
            <a:avLst/>
          </a:prstGeom>
          <a:solidFill>
            <a:srgbClr val="F9CB28"/>
          </a:solidFill>
          <a:ln w="12700">
            <a:solidFill>
              <a:srgbClr val="F9CB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12280" y="4160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C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12280" y="44348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成功体験の共有（クチコミ）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検索増→さらなる流入増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675120" y="5166360"/>
            <a:ext cx="64008" cy="59436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12280" y="5166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最終目標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12280" y="54406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月間購買碗数 110 → 300碗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（達成率 +173%）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675120" y="6035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流入増 ← 検索増 ← クチコミ ← 成功体験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0840"/>
            <a:ext cx="1117231" cy="137160"/>
          </a:xfrm>
          <a:prstGeom prst="rect">
            <a:avLst/>
          </a:prstGeom>
          <a:solidFill>
            <a:srgbClr val="CD2ECB"/>
          </a:solidFill>
          <a:ln w="12700">
            <a:solidFill>
              <a:srgbClr val="CD2E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8087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16173" y="6720840"/>
            <a:ext cx="1117231" cy="13716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24260" y="6720840"/>
            <a:ext cx="1117231" cy="13716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32346" y="6720840"/>
            <a:ext cx="1117231" cy="13716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40433" y="6720840"/>
            <a:ext cx="1117231" cy="137160"/>
          </a:xfrm>
          <a:prstGeom prst="rect">
            <a:avLst/>
          </a:prstGeom>
          <a:solidFill>
            <a:srgbClr val="F9CB28"/>
          </a:solidFill>
          <a:ln w="12700">
            <a:solidFill>
              <a:srgbClr val="F9CB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48519" y="6720840"/>
            <a:ext cx="1117231" cy="13716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56606" y="6720840"/>
            <a:ext cx="1117231" cy="13716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4692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72779" y="6720840"/>
            <a:ext cx="1117231" cy="137160"/>
          </a:xfrm>
          <a:prstGeom prst="rect">
            <a:avLst/>
          </a:prstGeom>
          <a:solidFill>
            <a:srgbClr val="CD2ECB"/>
          </a:solidFill>
          <a:ln w="12700">
            <a:solidFill>
              <a:srgbClr val="CD2E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80865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SHUWAN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4つのコンテンツと役割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" y="1005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発見層・納得層それぞれの目的・活用先・優先度を整理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463040"/>
            <a:ext cx="11247120" cy="384048"/>
          </a:xfrm>
          <a:prstGeom prst="rect">
            <a:avLst/>
          </a:prstGeom>
          <a:solidFill>
            <a:srgbClr val="EEEEEE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1508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1508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コンテンツ名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1508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主な効果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1508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活用先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0" y="1508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優先度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0" y="1508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制作状況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1920240"/>
            <a:ext cx="112471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1920240"/>
            <a:ext cx="64008" cy="1024128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2402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5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97280" y="20116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プロ愛用者インタビュー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20116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CVRリフト（信頼・権威）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20640" y="20116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EC掲載→納得→購入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0" y="20116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65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高・短期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0" y="20116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未撮影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候補：取引酒蔵・料飲店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2999232"/>
            <a:ext cx="11247120" cy="1024128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2999232"/>
            <a:ext cx="64008" cy="1024128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3192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97280" y="309067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ワイングラスとSHUWANの違い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291840" y="309067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CVRリフト（根拠提示）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20640" y="309067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EC掲載＋動画広告→購入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132320" y="309067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最高・即時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686800" y="309067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✅撮影済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YouTube公開済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078224"/>
            <a:ext cx="112471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4078224"/>
            <a:ext cx="64008" cy="1024128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439826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097280" y="4169664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おつまみ×日本酒チャンネル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291840" y="4169664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認知獲得・流入増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20640" y="4169664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コラボ先経由→EC流入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132320" y="4169664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中・コラボ先依存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686800" y="4169664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コラボ先選定中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" y="5157216"/>
            <a:ext cx="11247120" cy="1024128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" y="5157216"/>
            <a:ext cx="64008" cy="1024128"/>
          </a:xfrm>
          <a:prstGeom prst="rect">
            <a:avLst/>
          </a:prstGeom>
          <a:solidFill>
            <a:srgbClr val="F9CB28"/>
          </a:solidFill>
          <a:ln w="12700">
            <a:solidFill>
              <a:srgbClr val="F9CB2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547725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C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097280" y="5248656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銘柄飲み比べ×SHUWAN常連出演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291840" y="5248656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認知獲得・流入増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120640" y="5248656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コラボ先経由→EC流入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132320" y="5248656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中・コラボ先依存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686800" y="5248656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✅酒泉洞堀一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実現済み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0840"/>
            <a:ext cx="1117231" cy="137160"/>
          </a:xfrm>
          <a:prstGeom prst="rect">
            <a:avLst/>
          </a:prstGeom>
          <a:solidFill>
            <a:srgbClr val="CD2ECB"/>
          </a:solidFill>
          <a:ln w="12700">
            <a:solidFill>
              <a:srgbClr val="CD2E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8087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16173" y="6720840"/>
            <a:ext cx="1117231" cy="13716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24260" y="6720840"/>
            <a:ext cx="1117231" cy="13716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32346" y="6720840"/>
            <a:ext cx="1117231" cy="13716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40433" y="6720840"/>
            <a:ext cx="1117231" cy="137160"/>
          </a:xfrm>
          <a:prstGeom prst="rect">
            <a:avLst/>
          </a:prstGeom>
          <a:solidFill>
            <a:srgbClr val="F9CB28"/>
          </a:solidFill>
          <a:ln w="12700">
            <a:solidFill>
              <a:srgbClr val="F9CB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48519" y="6720840"/>
            <a:ext cx="1117231" cy="13716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56606" y="6720840"/>
            <a:ext cx="1117231" cy="13716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4692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72779" y="6720840"/>
            <a:ext cx="1117231" cy="137160"/>
          </a:xfrm>
          <a:prstGeom prst="rect">
            <a:avLst/>
          </a:prstGeom>
          <a:solidFill>
            <a:srgbClr val="CD2ECB"/>
          </a:solidFill>
          <a:ln w="12700">
            <a:solidFill>
              <a:srgbClr val="CD2E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80865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SHUWAN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3フェーズでの実行計画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" y="1005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既存資産の最大化から始め、データで自社制作の可否を判断する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508760"/>
            <a:ext cx="3703320" cy="4937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1508760"/>
            <a:ext cx="3703320" cy="64008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16642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" y="2057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4月・即実行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2395728"/>
            <a:ext cx="32918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2560320"/>
            <a:ext cx="54864" cy="32004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253288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②動画をshop.shuwan.jpに埋め込み（コストゼロ・最速CVR改善）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8368" y="3291840"/>
            <a:ext cx="54864" cy="32004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" y="326440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②動画をPMAX/リスティングの動画アセットに追加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8368" y="4023360"/>
            <a:ext cx="54864" cy="32004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" y="399592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酒泉洞堀一へ埋め込み許諾＋グラス紹介動画依頼（下書き準備済）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8368" y="4754880"/>
            <a:ext cx="54864" cy="32004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472744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①撮影候補リストアップ（取引酒蔵・料飲店から2〜3名）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89120" y="1508760"/>
            <a:ext cx="3703320" cy="4937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89120" y="1508760"/>
            <a:ext cx="3703320" cy="64008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16642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572000" y="2057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4〜5月・コラボ検証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0" y="2395728"/>
            <a:ext cx="32918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90288" y="2560320"/>
            <a:ext cx="54864" cy="32004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27448" y="253288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③④は自社制作せず既存チャンネルとのコラボで仮説検証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90288" y="3291840"/>
            <a:ext cx="54864" cy="32004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27448" y="326440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コラボ候補：酒泉洞堀一（1.63万人・実績あり）、酒とゆいと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90288" y="4023360"/>
            <a:ext cx="54864" cy="32004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27448" y="399592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UTMパラメータで「コラボ動画→EC流入→CVR」を計測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90288" y="4754880"/>
            <a:ext cx="54864" cy="32004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27448" y="472744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YouTubeショート（Shorts）の積極活用（登録者ゼロでも拡散）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321040" y="1508760"/>
            <a:ext cx="3703320" cy="4937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321040" y="1508760"/>
            <a:ext cx="3703320" cy="64008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03920" y="16642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5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8503920" y="2057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6月以降・自社チャンネル判断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503920" y="2395728"/>
            <a:ext cx="32918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522208" y="2560320"/>
            <a:ext cx="54864" cy="32004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59368" y="253288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Phase2データ（EC流入数・CVR）で③か④の自社制作を判断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522208" y="3291840"/>
            <a:ext cx="54864" cy="32004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59368" y="326440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「再生数」ではなく「EC流入・CVR」で意思決定する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522208" y="4023360"/>
            <a:ext cx="54864" cy="32004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59368" y="399592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酒蔵・料飲店への「SHUWAN使用動画」投稿依頼（30蔵以上）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0840"/>
            <a:ext cx="1117231" cy="137160"/>
          </a:xfrm>
          <a:prstGeom prst="rect">
            <a:avLst/>
          </a:prstGeom>
          <a:solidFill>
            <a:srgbClr val="CD2ECB"/>
          </a:solidFill>
          <a:ln w="12700">
            <a:solidFill>
              <a:srgbClr val="CD2E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8087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16173" y="6720840"/>
            <a:ext cx="1117231" cy="13716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24260" y="6720840"/>
            <a:ext cx="1117231" cy="13716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32346" y="6720840"/>
            <a:ext cx="1117231" cy="13716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40433" y="6720840"/>
            <a:ext cx="1117231" cy="137160"/>
          </a:xfrm>
          <a:prstGeom prst="rect">
            <a:avLst/>
          </a:prstGeom>
          <a:solidFill>
            <a:srgbClr val="F9CB28"/>
          </a:solidFill>
          <a:ln w="12700">
            <a:solidFill>
              <a:srgbClr val="F9CB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48519" y="6720840"/>
            <a:ext cx="1117231" cy="13716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56606" y="6720840"/>
            <a:ext cx="1117231" cy="13716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4692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72779" y="6720840"/>
            <a:ext cx="1117231" cy="137160"/>
          </a:xfrm>
          <a:prstGeom prst="rect">
            <a:avLst/>
          </a:prstGeom>
          <a:solidFill>
            <a:srgbClr val="CD2ECB"/>
          </a:solidFill>
          <a:ln w="12700">
            <a:solidFill>
              <a:srgbClr val="CD2E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80865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SHUWAN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さらに強化する3つの施策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" y="1005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YouTubeショート・酒蔵投稿依頼・SEO設計で認知を面的に拡大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508760"/>
            <a:ext cx="3703320" cy="4937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1508760"/>
            <a:ext cx="3703320" cy="64008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16459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0080" y="2103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YouTubeショート（Shorts）活用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2697480"/>
            <a:ext cx="32918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2916936"/>
            <a:ext cx="91440" cy="91440"/>
          </a:xfrm>
          <a:prstGeom prst="ellipse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281635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②動画はすでにShortsで公開済み ✅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" y="3630168"/>
            <a:ext cx="91440" cy="91440"/>
          </a:xfrm>
          <a:prstGeom prst="ellipse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529584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①インタビューも必ず60秒Shorts版を制作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8368" y="4343400"/>
            <a:ext cx="91440" cy="91440"/>
          </a:xfrm>
          <a:prstGeom prst="ellipse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242816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アルゴリズム拡散力が強く、登録者ゼロでも伸びる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" y="5056632"/>
            <a:ext cx="91440" cy="91440"/>
          </a:xfrm>
          <a:prstGeom prst="ellipse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95604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縦型15〜60秒でスマホ閲覧層にリーチ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89120" y="1508760"/>
            <a:ext cx="3703320" cy="4937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89120" y="1508760"/>
            <a:ext cx="3703320" cy="64008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16459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572000" y="2103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酒蔵・料飲店への投稿依頼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0" y="2697480"/>
            <a:ext cx="32918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90288" y="2916936"/>
            <a:ext cx="91440" cy="9144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81635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30蔵以上・ミシュラン店が既にSHUWANを採用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90288" y="3630168"/>
            <a:ext cx="91440" cy="9144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529584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「テイスティングにSHUWANを使用」とSNS/YouTube投稿依頼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90288" y="4343400"/>
            <a:ext cx="91440" cy="9144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4242816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コストゼロで口コミ波及を実現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90288" y="5056632"/>
            <a:ext cx="91440" cy="9144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495604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酒蔵のブランド力×SHUWANで相互発信効果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321040" y="1508760"/>
            <a:ext cx="3703320" cy="4937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321040" y="1508760"/>
            <a:ext cx="3703320" cy="64008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03920" y="16459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75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8503920" y="2103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SEO設計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503920" y="2697480"/>
            <a:ext cx="32918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522208" y="2916936"/>
            <a:ext cx="91440" cy="91440"/>
          </a:xfrm>
          <a:prstGeom prst="ellipse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86800" y="281635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「酒器」「日本酒 おすすめ グラス」でYouTube検索上位を狙う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522208" y="3630168"/>
            <a:ext cx="91440" cy="91440"/>
          </a:xfrm>
          <a:prstGeom prst="ellipse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86800" y="3529584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タイトル・概要欄・タグの統一設計が必要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522208" y="4343400"/>
            <a:ext cx="91440" cy="91440"/>
          </a:xfrm>
          <a:prstGeom prst="ellipse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86800" y="4242816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酒泉洞堀一「黄金比の酒器を解説」は既にSEO効果あり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522208" y="5056632"/>
            <a:ext cx="91440" cy="91440"/>
          </a:xfrm>
          <a:prstGeom prst="ellipse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86800" y="495604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概要欄にshop.shuwan.jpリンク設置（全動画に依頼）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0840"/>
            <a:ext cx="1117231" cy="137160"/>
          </a:xfrm>
          <a:prstGeom prst="rect">
            <a:avLst/>
          </a:prstGeom>
          <a:solidFill>
            <a:srgbClr val="CD2ECB"/>
          </a:solidFill>
          <a:ln w="12700">
            <a:solidFill>
              <a:srgbClr val="CD2E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8087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16173" y="6720840"/>
            <a:ext cx="1117231" cy="13716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24260" y="6720840"/>
            <a:ext cx="1117231" cy="13716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32346" y="6720840"/>
            <a:ext cx="1117231" cy="13716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40433" y="6720840"/>
            <a:ext cx="1117231" cy="137160"/>
          </a:xfrm>
          <a:prstGeom prst="rect">
            <a:avLst/>
          </a:prstGeom>
          <a:solidFill>
            <a:srgbClr val="F9CB28"/>
          </a:solidFill>
          <a:ln w="12700">
            <a:solidFill>
              <a:srgbClr val="F9CB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48519" y="6720840"/>
            <a:ext cx="1117231" cy="13716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56606" y="6720840"/>
            <a:ext cx="1117231" cy="13716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4692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72779" y="6720840"/>
            <a:ext cx="1117231" cy="137160"/>
          </a:xfrm>
          <a:prstGeom prst="rect">
            <a:avLst/>
          </a:prstGeom>
          <a:solidFill>
            <a:srgbClr val="CD2ECB"/>
          </a:solidFill>
          <a:ln w="12700">
            <a:solidFill>
              <a:srgbClr val="CD2E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80865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SHUWAN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KPI体系（測定指標）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" y="1005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再生数ではなく「EC流入・CVR」で成否を判断する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solidFill>
            <a:srgbClr val="EEEEEE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150876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カテゴリ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83080" y="150876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KPI指標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1508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目標値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0" y="1508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計測方法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1901952"/>
            <a:ext cx="11247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1901952"/>
            <a:ext cx="64008" cy="64008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203911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流入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783080" y="19933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YouTube経由EC月間流入数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19476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300セッション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（全体3,000の10%）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0" y="20391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UTM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587752"/>
            <a:ext cx="11247120" cy="640080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2587752"/>
            <a:ext cx="64008" cy="64008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272491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流入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783080" y="26791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コラボ動画1本あたりEC流入数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09360" y="26334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採用基準：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50セッション以上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44000" y="27249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273552"/>
            <a:ext cx="11247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3273552"/>
            <a:ext cx="64008" cy="64008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341071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5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783080" y="33649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動画あり商品ページCVR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309360" y="33192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3%以上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（現状推定1%）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144000" y="3410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Shopify×GA4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3959352"/>
            <a:ext cx="11247120" cy="640080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3959352"/>
            <a:ext cx="64008" cy="64008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409651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コンテンツ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783080" y="40507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②動画の商品ページ視聴完了率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309360" y="40050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40%以上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144000" y="40965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or GA4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4645152"/>
            <a:ext cx="11247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4645152"/>
            <a:ext cx="64008" cy="640080"/>
          </a:xfrm>
          <a:prstGeom prst="rect">
            <a:avLst/>
          </a:prstGeom>
          <a:solidFill>
            <a:srgbClr val="F9CB28"/>
          </a:solidFill>
          <a:ln w="12700">
            <a:solidFill>
              <a:srgbClr val="F9CB2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478231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C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認知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783080" y="47365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YouTubeチャンネル登録者数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309360" y="46908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月+100人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144000" y="47823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Studio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5330952"/>
            <a:ext cx="11247120" cy="640080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7200" y="5330952"/>
            <a:ext cx="64008" cy="640080"/>
          </a:xfrm>
          <a:prstGeom prst="rect">
            <a:avLst/>
          </a:prstGeom>
          <a:solidFill>
            <a:srgbClr val="F9CB28"/>
          </a:solidFill>
          <a:ln w="12700">
            <a:solidFill>
              <a:srgbClr val="F9CB2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4360" y="546811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C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認知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783080" y="54223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Shorts平均再生数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309360" y="53766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1本5,000再生以上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9144000" y="54681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Studio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57200" y="6080760"/>
            <a:ext cx="11247120" cy="457200"/>
          </a:xfrm>
          <a:prstGeom prst="rect">
            <a:avLst/>
          </a:prstGeom>
          <a:solidFill>
            <a:srgbClr val="FFF3CD"/>
          </a:solidFill>
          <a:ln w="19050">
            <a:solidFill>
              <a:srgbClr val="F9CB2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" y="612648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最終目標：月間購買ページ流入 1,800 → 3,000　｜　CVR 3.5% → 5%　｜　月間購買碗数 110 → 300碗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0840"/>
            <a:ext cx="1117231" cy="137160"/>
          </a:xfrm>
          <a:prstGeom prst="rect">
            <a:avLst/>
          </a:prstGeom>
          <a:solidFill>
            <a:srgbClr val="CD2ECB"/>
          </a:solidFill>
          <a:ln w="12700">
            <a:solidFill>
              <a:srgbClr val="CD2E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8087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16173" y="6720840"/>
            <a:ext cx="1117231" cy="13716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24260" y="6720840"/>
            <a:ext cx="1117231" cy="13716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32346" y="6720840"/>
            <a:ext cx="1117231" cy="13716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40433" y="6720840"/>
            <a:ext cx="1117231" cy="137160"/>
          </a:xfrm>
          <a:prstGeom prst="rect">
            <a:avLst/>
          </a:prstGeom>
          <a:solidFill>
            <a:srgbClr val="F9CB28"/>
          </a:solidFill>
          <a:ln w="12700">
            <a:solidFill>
              <a:srgbClr val="F9CB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48519" y="6720840"/>
            <a:ext cx="1117231" cy="13716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56606" y="6720840"/>
            <a:ext cx="1117231" cy="13716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4692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72779" y="6720840"/>
            <a:ext cx="1117231" cy="137160"/>
          </a:xfrm>
          <a:prstGeom prst="rect">
            <a:avLst/>
          </a:prstGeom>
          <a:solidFill>
            <a:srgbClr val="CD2ECB"/>
          </a:solidFill>
          <a:ln w="12700">
            <a:solidFill>
              <a:srgbClr val="CD2E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80865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SHUWAN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今週の推奨アクション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" y="1005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すでにある資産（②動画・酒泉洞堀一との関係）を最大化することが最速の施策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463040"/>
            <a:ext cx="11247120" cy="384048"/>
          </a:xfrm>
          <a:prstGeom prst="rect">
            <a:avLst/>
          </a:prstGeom>
          <a:solidFill>
            <a:srgbClr val="EEEEEE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15087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150876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アクション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40880" y="15087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担当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0" y="1508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期限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418320" y="15087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期待効果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1920240"/>
            <a:ext cx="112471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1920240"/>
            <a:ext cx="64008" cy="804672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21488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201168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②動画をshop.shuwan.jpに埋め込む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40880" y="2148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深田氏/松窪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12480" y="2148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418320" y="20116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最速CVR改善・コストゼロ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2788920"/>
            <a:ext cx="11247120" cy="804672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2788920"/>
            <a:ext cx="64008" cy="804672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017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5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88720" y="288036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②動画をPMAX動画アセットに追加申請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040880" y="3017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松窪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412480" y="3017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5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4/7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418320" y="28803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広告効率改善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657600"/>
            <a:ext cx="112471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3657600"/>
            <a:ext cx="64008" cy="804672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3886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188720" y="374904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酒泉洞堀一へ埋め込み許諾＋グラス紹介依頼メール送付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040880" y="3886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412480" y="3886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418320" y="37490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下書き準備済。送付するだけ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4526280"/>
            <a:ext cx="11247120" cy="804672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4526280"/>
            <a:ext cx="64008" cy="804672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4754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5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188720" y="461772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①撮影候補3名リストアップ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040880" y="47548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41248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5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4/7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9418320" y="46177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酒蔵・料飲店から選定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" y="5486400"/>
            <a:ext cx="11247120" cy="960120"/>
          </a:xfrm>
          <a:prstGeom prst="rect">
            <a:avLst/>
          </a:prstGeom>
          <a:solidFill>
            <a:srgbClr val="FFF3CD"/>
          </a:solidFill>
          <a:ln w="19050">
            <a:solidFill>
              <a:srgbClr val="F9CB2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" y="5486400"/>
            <a:ext cx="64008" cy="96012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5559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5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一言まとめ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40080" y="583387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すでにある資産（②動画・酒泉洞堀一との関係）を最大化することが最速の施策。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新規制作より先に既存資産のEC活用を徹底し、Phase2以降でコラボデータを蓄積してから判断する。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964</Words>
  <Application>Microsoft Office PowerPoint</Application>
  <PresentationFormat>ワイド画面</PresentationFormat>
  <Paragraphs>276</Paragraphs>
  <Slides>9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SHUWAN YouTube戦略 社内答申</dc:title>
  <dc:subject>PptxGenJS Presentation</dc:subject>
  <dc:creator>PptxGenJS</dc:creator>
  <cp:lastModifiedBy>浩晃 原</cp:lastModifiedBy>
  <cp:revision>3</cp:revision>
  <dcterms:created xsi:type="dcterms:W3CDTF">2026-04-01T00:48:12Z</dcterms:created>
  <dcterms:modified xsi:type="dcterms:W3CDTF">2026-04-01T00:52:36Z</dcterms:modified>
</cp:coreProperties>
</file>